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7f4a802d04269" /><Relationship Type="http://schemas.openxmlformats.org/officeDocument/2006/relationships/extended-properties" Target="/docProps/app.xml" Id="R1adf24c0cf6b447e" /><Relationship Type="http://schemas.openxmlformats.org/officeDocument/2006/relationships/officeDocument" Target="/ppt/presentation.xml" Id="R2351e6f947f848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0ea76e69a4b5c"/>
  </p:sldMasterIdLst>
  <p:notesMasterIdLst>
    <p:notesMasterId xmlns:r="http://schemas.openxmlformats.org/officeDocument/2006/relationships" r:id="R65a2acebee07497d"/>
  </p:notesMasterIdLst>
  <p:sldIdLst>
    <p:sldId xmlns:r="http://schemas.openxmlformats.org/officeDocument/2006/relationships" id="256" r:id="R1a97c9636a6f4517"/>
    <p:sldId xmlns:r="http://schemas.openxmlformats.org/officeDocument/2006/relationships" id="257" r:id="R55ef249cb5de4b4a"/>
    <p:sldId xmlns:r="http://schemas.openxmlformats.org/officeDocument/2006/relationships" id="258" r:id="R7636679547f04da8"/>
    <p:sldId xmlns:r="http://schemas.openxmlformats.org/officeDocument/2006/relationships" id="259" r:id="R9f8d5d7e466041b7"/>
    <p:sldId xmlns:r="http://schemas.openxmlformats.org/officeDocument/2006/relationships" id="260" r:id="R2e7921e2465b4bef"/>
    <p:sldId xmlns:r="http://schemas.openxmlformats.org/officeDocument/2006/relationships" id="261" r:id="Rb66ace25e2774a3e"/>
    <p:sldId xmlns:r="http://schemas.openxmlformats.org/officeDocument/2006/relationships" id="262" r:id="R86a517ea19214f0e"/>
    <p:sldId xmlns:r="http://schemas.openxmlformats.org/officeDocument/2006/relationships" id="263" r:id="R296d07b9c79a43fd"/>
    <p:sldId xmlns:r="http://schemas.openxmlformats.org/officeDocument/2006/relationships" id="264" r:id="R2b55edbdef724b7d"/>
    <p:sldId xmlns:r="http://schemas.openxmlformats.org/officeDocument/2006/relationships" id="265" r:id="Rd3acf14cc83e4a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4d4eb9b3024e73" /><Relationship Type="http://schemas.openxmlformats.org/officeDocument/2006/relationships/slideMaster" Target="/ppt/slideMasters/slideMaster1.xml" Id="Rc510ea76e69a4b5c" /><Relationship Type="http://schemas.openxmlformats.org/officeDocument/2006/relationships/notesMaster" Target="/ppt/notesMasters/notesMaster1.xml" Id="R65a2acebee07497d" /><Relationship Type="http://schemas.openxmlformats.org/officeDocument/2006/relationships/presProps" Target="/ppt/presProps.xml" Id="R4c71e18a1017412f" /><Relationship Type="http://schemas.openxmlformats.org/officeDocument/2006/relationships/tableStyles" Target="/ppt/tableStyles.xml" Id="R904ce7777d784684" /><Relationship Type="http://schemas.openxmlformats.org/officeDocument/2006/relationships/slide" Target="/ppt/slides/slide1.xml" Id="R1a97c9636a6f4517" /><Relationship Type="http://schemas.openxmlformats.org/officeDocument/2006/relationships/slide" Target="/ppt/slides/slide2.xml" Id="R55ef249cb5de4b4a" /><Relationship Type="http://schemas.openxmlformats.org/officeDocument/2006/relationships/slide" Target="/ppt/slides/slide3.xml" Id="R7636679547f04da8" /><Relationship Type="http://schemas.openxmlformats.org/officeDocument/2006/relationships/slide" Target="/ppt/slides/slide4.xml" Id="R9f8d5d7e466041b7" /><Relationship Type="http://schemas.openxmlformats.org/officeDocument/2006/relationships/slide" Target="/ppt/slides/slide5.xml" Id="R2e7921e2465b4bef" /><Relationship Type="http://schemas.openxmlformats.org/officeDocument/2006/relationships/slide" Target="/ppt/slides/slide6.xml" Id="Rb66ace25e2774a3e" /><Relationship Type="http://schemas.openxmlformats.org/officeDocument/2006/relationships/slide" Target="/ppt/slides/slide7.xml" Id="R86a517ea19214f0e" /><Relationship Type="http://schemas.openxmlformats.org/officeDocument/2006/relationships/slide" Target="/ppt/slides/slide8.xml" Id="R296d07b9c79a43fd" /><Relationship Type="http://schemas.openxmlformats.org/officeDocument/2006/relationships/slide" Target="/ppt/slides/slide9.xml" Id="R2b55edbdef724b7d" /><Relationship Type="http://schemas.openxmlformats.org/officeDocument/2006/relationships/slide" Target="/ppt/slides/slide10.xml" Id="Rd3acf14cc83e4a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f6804e6a3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47e0b57ba43c4" /><Relationship Type="http://schemas.openxmlformats.org/officeDocument/2006/relationships/notesMaster" Target="/ppt/notesMasters/notesMaster1.xml" Id="R69e7682302e2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d79ef78c945b0" /><Relationship Type="http://schemas.openxmlformats.org/officeDocument/2006/relationships/notesMaster" Target="/ppt/notesMasters/notesMaster1.xml" Id="R6d2ef9c65e63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a949ab22740e6" /><Relationship Type="http://schemas.openxmlformats.org/officeDocument/2006/relationships/notesMaster" Target="/ppt/notesMasters/notesMaster1.xml" Id="R942c88c47476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c69598b88d4e10" /><Relationship Type="http://schemas.openxmlformats.org/officeDocument/2006/relationships/notesMaster" Target="/ppt/notesMasters/notesMaster1.xml" Id="Re309f1e5e3b6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9b6c8437c4e14" /><Relationship Type="http://schemas.openxmlformats.org/officeDocument/2006/relationships/notesMaster" Target="/ppt/notesMasters/notesMaster1.xml" Id="R3a0498104e1b46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89681223b4cf9" /><Relationship Type="http://schemas.openxmlformats.org/officeDocument/2006/relationships/notesMaster" Target="/ppt/notesMasters/notesMaster1.xml" Id="R66cbefdfe494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fd806186649a8" /><Relationship Type="http://schemas.openxmlformats.org/officeDocument/2006/relationships/notesMaster" Target="/ppt/notesMasters/notesMaster1.xml" Id="Rb59db3a8952e47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b2270d8a604448" /><Relationship Type="http://schemas.openxmlformats.org/officeDocument/2006/relationships/notesMaster" Target="/ppt/notesMasters/notesMaster1.xml" Id="R8567b41b805644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30729e84c04601" /><Relationship Type="http://schemas.openxmlformats.org/officeDocument/2006/relationships/notesMaster" Target="/ppt/notesMasters/notesMaster1.xml" Id="R90bea9b4209443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b485827e4847f8" /><Relationship Type="http://schemas.openxmlformats.org/officeDocument/2006/relationships/notesMaster" Target="/ppt/notesMasters/notesMaster1.xml" Id="R57229d70bb71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dd45c452548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be196dd354cec" /><Relationship Type="http://schemas.openxmlformats.org/officeDocument/2006/relationships/slideLayout" Target="/ppt/slideLayouts/slideLayout1.xml" Id="R412b90a11714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b90a11714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70c88093a4a17" /><Relationship Type="http://schemas.openxmlformats.org/officeDocument/2006/relationships/notesSlide" Target="/ppt/notesSlides/notesSlide1.xml" Id="R40098d42e2e8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d159f9d744675" /><Relationship Type="http://schemas.openxmlformats.org/officeDocument/2006/relationships/notesSlide" Target="/ppt/notesSlides/notesSlide2.xml" Id="Rb9cb3b99aacb44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709d71d904bd5" /><Relationship Type="http://schemas.openxmlformats.org/officeDocument/2006/relationships/notesSlide" Target="/ppt/notesSlides/notesSlide3.xml" Id="R0d245769650e41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2fa3d0ba4deb" /><Relationship Type="http://schemas.openxmlformats.org/officeDocument/2006/relationships/notesSlide" Target="/ppt/notesSlides/notesSlide4.xml" Id="R248d2d4f911f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44c3b08654603" /><Relationship Type="http://schemas.openxmlformats.org/officeDocument/2006/relationships/notesSlide" Target="/ppt/notesSlides/notesSlide5.xml" Id="Rc08ff5cd2ad3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d5db82ced4bfa" /><Relationship Type="http://schemas.openxmlformats.org/officeDocument/2006/relationships/notesSlide" Target="/ppt/notesSlides/notesSlide6.xml" Id="R2082db188922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ca832a3041b6" /><Relationship Type="http://schemas.openxmlformats.org/officeDocument/2006/relationships/notesSlide" Target="/ppt/notesSlides/notesSlide7.xml" Id="Rb18c0465a24d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25226f6af46a6" /><Relationship Type="http://schemas.openxmlformats.org/officeDocument/2006/relationships/notesSlide" Target="/ppt/notesSlides/notesSlide8.xml" Id="R0f20386345bc4b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27f19e3714e63" /><Relationship Type="http://schemas.openxmlformats.org/officeDocument/2006/relationships/notesSlide" Target="/ppt/notesSlides/notesSlide9.xml" Id="Ra3b1c9a9bf7a42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1c0491b064c99" /><Relationship Type="http://schemas.openxmlformats.org/officeDocument/2006/relationships/notesSlide" Target="/ppt/notesSlides/notesSlide10.xml" Id="R1c75f5d1f4804d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32897-55FF-4715-9A72-6EE33AA4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504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EC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A15E4-C7AF-4D88-A530-5AD2434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81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8A28"/>
                </a:solidFill>
              </a:defRPr>
            </a:pPr>
            <a:r>
              <a:rPr sz="975" b="1">
                <a:solidFill>
                  <a:srgbClr val="C88A28"/>
                </a:solidFill>
              </a:rPr>
              <a:t>Approval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C5138-B0B3-4570-9024-84E78B9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1B"/>
                </a:solidFill>
              </a:defRPr>
            </a:pPr>
            <a:r>
              <a:rPr sz="4050" b="1">
                <a:solidFill>
                  <a:srgbClr val="17211B"/>
                </a:solidFill>
              </a:rPr>
              <a:t>CCW-CRM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D5F1E-191E-4CBA-8C35-0BF2B98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E"/>
                </a:solidFill>
              </a:defRPr>
            </a:pPr>
            <a:r>
              <a:rPr sz="2100" b="1">
                <a:solidFill>
                  <a:srgbClr val="1E6B4E"/>
                </a:solidFill>
              </a:rPr>
              <a:t>AI phone, growth ally, and follow-up agent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84B5-8B0B-46E2-9B82-CD87A3FF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38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F66"/>
                </a:solidFill>
              </a:defRPr>
            </a:pPr>
            <a:r>
              <a:rPr sz="1800" b="0">
                <a:solidFill>
                  <a:srgbClr val="5F6F66"/>
                </a:solidFill>
              </a:rPr>
              <a:t>Approve the build direction: protect Seven Hills economics, capture more customer demand, and turn CCW into a stronger industry hub.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97CB-A2CC-4C08-B098-78E8AE0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3429000" cy="4381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EA3B-CFD1-4860-B662-B4B97C4B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001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6B4E"/>
                </a:solidFill>
              </a:defRPr>
            </a:pPr>
            <a:r>
              <a:rPr sz="3600" b="1">
                <a:solidFill>
                  <a:srgbClr val="1E6B4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90267-B614-4DEA-998F-0F9E892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F66"/>
                </a:solidFill>
              </a:defRPr>
            </a:pPr>
            <a:r>
              <a:rPr sz="1125" b="0">
                <a:solidFill>
                  <a:srgbClr val="5F6F66"/>
                </a:solidFill>
              </a:rPr>
              <a:t>living feasibility statement for Toby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93885-0C41-45C5-81A2-65DF773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45C73"/>
                </a:solidFill>
              </a:defRPr>
            </a:pPr>
            <a:r>
              <a:rPr sz="3600" b="1">
                <a:solidFill>
                  <a:srgbClr val="245C73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31D26-1039-4DB5-A6DF-F79DE164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F66"/>
                </a:solidFill>
              </a:defRPr>
            </a:pPr>
            <a:r>
              <a:rPr sz="1125" b="0">
                <a:solidFill>
                  <a:srgbClr val="5F6F66"/>
                </a:solidFill>
              </a:rPr>
              <a:t>agent layers: phone, learning, 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EC881-A4AE-4E2C-AE07-5A7FFB6F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88A28"/>
                </a:solidFill>
              </a:defRPr>
            </a:pPr>
            <a:r>
              <a:rPr sz="3600" b="1">
                <a:solidFill>
                  <a:srgbClr val="C88A28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76A15-C049-400A-8D4D-5FF9BD0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F66"/>
                </a:solidFill>
              </a:defRPr>
            </a:pPr>
            <a:r>
              <a:rPr sz="1125" b="0">
                <a:solidFill>
                  <a:srgbClr val="5F6F66"/>
                </a:solidFill>
              </a:rPr>
              <a:t>silent commitments without approval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9832E-B45A-434B-9C24-729E0F3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</a:defRPr>
            </a:pPr>
            <a:r>
              <a:rPr sz="1200" b="1">
                <a:solidFill>
                  <a:srgbClr val="17211B"/>
                </a:solidFill>
              </a:rPr>
              <a:t>Prepared for Toby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E6031-D041-44DA-A5AB-84B7EBF3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6"/>
                </a:solidFill>
              </a:defRPr>
            </a:pPr>
            <a:r>
              <a:rPr sz="1125" b="0">
                <a:solidFill>
                  <a:srgbClr val="5F6F66"/>
                </a:solidFill>
              </a:rPr>
              <a:t>Carpet Cleaners Warehouse | approval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7B2C-64B4-4679-901A-07A95F2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70594-9DDD-4CD2-8880-6FC6ED8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2596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E65518-31ED-4B29-9A59-6B1341C9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B9E90-135A-42F0-B285-0865417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What Toby is approving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03340-0E18-4B32-B2DD-971B774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A controlled build that improves access, conversion, follow-up, and decision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88A9-8EC2-4D35-9FC5-605F288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197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6D29-1DCF-47F6-9134-C704BD0E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E"/>
          </a:solidFill>
          <a:ln xmlns:a="http://schemas.openxmlformats.org/drawingml/2006/main" w="0">
            <a:solidFill>
              <a:srgbClr val="1E6B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A86C2-D423-4757-A649-A1D800B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Build the CRM operating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176AF-9F20-4284-BBBA-2B75936A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Feasibility, financial claims, Xero backing, opportunities, read path, and version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90506-E98E-474C-9A5F-FF2F20C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2197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B028F-EDE1-4AC9-BC78-B534F412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73"/>
          </a:solidFill>
          <a:ln xmlns:a="http://schemas.openxmlformats.org/drawingml/2006/main" w="0">
            <a:solidFill>
              <a:srgbClr val="245C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6322E-5BD6-4357-B135-DDF966DF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Launch the AI phone gatekeeper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98D08-C2E0-4AAF-91A5-BF90009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819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Answer routine calls from approved knowledge and escalate calls that truly need a human.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0E244-E5F9-48E8-9906-3D6BF3E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197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DE142-22EC-4C44-B9F0-5E65E908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E"/>
          </a:solidFill>
          <a:ln xmlns:a="http://schemas.openxmlformats.org/drawingml/2006/main" w="0">
            <a:solidFill>
              <a:srgbClr val="1E6B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2EF29-A6FB-4008-BECA-E8A114B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Create learning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270AB-DB9F-4AC4-9C55-E43C8D8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4819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Mine conversations for intents, personas, objections, and specialised agent/playbook drafts.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E5903-6256-41DC-9494-4BB869F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52197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39905-0230-4133-8FDE-CD27670E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73"/>
          </a:solidFill>
          <a:ln xmlns:a="http://schemas.openxmlformats.org/drawingml/2006/main" w="0">
            <a:solidFill>
              <a:srgbClr val="245C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28FD0-85FB-46B1-B7E2-C5BF83F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Start follow-up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AF6EF-2A9E-4F4E-A99C-4F8D3EEB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48200"/>
            <a:ext cx="4819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Tracking updates, service intervals, company days, awards, campaigns, and industry-hub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B87B5-F78E-41F8-AF1B-8A31D61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A28"/>
                </a:solidFill>
              </a:defRPr>
            </a:pPr>
            <a:r>
              <a:rPr sz="1500" b="1">
                <a:solidFill>
                  <a:srgbClr val="C88A28"/>
                </a:solidFill>
              </a:rPr>
              <a:t>Approval is for direction and gated build sequence, not for ungated automation.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FE3D8-351C-49D4-990D-5574270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47CD4-0767-4C09-B65D-4746A05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5046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04C51-E10A-4FA7-BD36-3027EC1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BE2FA-3C4F-41E3-AEC9-87E3A19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What changes for CCW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1500F-FD3B-414B-ADBA-DC54B299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The project turns CCW-CRM from a record system into an operating ally for Toby.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05F4A-A1C3-42C1-BB78-E14B814C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42C9B-16A9-4977-9F2D-34AA8AB8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E"/>
          </a:solidFill>
          <a:ln xmlns:a="http://schemas.openxmlformats.org/drawingml/2006/main" w="0">
            <a:solidFill>
              <a:srgbClr val="1E6B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4168E-CEAF-43B9-B2CB-98BD539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Growth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8DA05-A006-4CBC-B1C9-5560DCCE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743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Missed calls, product demand, quote gaps, regional pickup demand, service upsells, and event opportunities become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87041-FBE4-48F6-A603-5AD030B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97A3D-7408-45FA-8BFF-53D120D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73"/>
          </a:solidFill>
          <a:ln xmlns:a="http://schemas.openxmlformats.org/drawingml/2006/main" w="0">
            <a:solidFill>
              <a:srgbClr val="245C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0B253-9786-4584-84F0-D027536E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241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C3EFE-D15D-4922-A9EF-4A96CEC4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86075"/>
            <a:ext cx="2743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Phone enquiries become qualified leads, online sale nudges, phone-order drafts, service bookings, and support tasks.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3200-BE2B-4929-8EAA-52331F04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ECDC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A7322-D0CC-4AA9-B004-4476837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8"/>
          </a:solidFill>
          <a:ln xmlns:a="http://schemas.openxmlformats.org/drawingml/2006/main" w="0">
            <a:solidFill>
              <a:srgbClr val="C88A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DC38F-D28A-43F3-B1D2-349EA5ED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Industry 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3C391-C6DD-4501-AA21-0EF296D6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743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Company days, mini-tradeshows, appreciation days, industry awards, supplier showcases, and training events become repeatable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C3A47-A8CF-4D26-8FD3-F3CBE430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6B4E"/>
                </a:solidFill>
              </a:defRPr>
            </a:pPr>
            <a:r>
              <a:rPr sz="1125" b="1">
                <a:solidFill>
                  <a:srgbClr val="1E6B4E"/>
                </a:solidFill>
              </a:rPr>
              <a:t>Core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EF498-863D-4F89-9F23-CC098A3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B"/>
                </a:solidFill>
              </a:defRPr>
            </a:pPr>
            <a:r>
              <a:rPr sz="1725" b="1">
                <a:solidFill>
                  <a:srgbClr val="17211B"/>
                </a:solidFill>
              </a:rPr>
              <a:t>Increase profitable customer access and sales conversion while protecting the Seven Hills cost advantage.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42179-BB5A-418F-A921-0759659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533BA-E489-496A-AB3E-28E7C77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468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06E5D-0104-42E2-A921-6F0BB837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SYSTEM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D1154-1D0A-4D77-819F-70127AA2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The approval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9E47C-58F8-486B-AE2E-CAF36B5A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Four connected layers, all grounded by evidence and approval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92AB-C453-4A4D-ADC1-F2B26498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6B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49586-CB3B-4E69-90E1-931154D4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6B4E"/>
                </a:solidFill>
              </a:defRPr>
            </a:pPr>
            <a:r>
              <a:rPr sz="1725" b="1">
                <a:solidFill>
                  <a:srgbClr val="1E6B4E"/>
                </a:solidFill>
              </a:rPr>
              <a:t>CRM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0208B-0972-4D96-BFA8-DDB84FFA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Customers, orders, quotes, products, service,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CAFCC-2B5E-4BA1-95C8-231E63A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41910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68CD3-9CFB-4F85-9667-DBAF79CD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C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F9D8E-CFF0-4A09-83FA-64E93CB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5C73"/>
                </a:solidFill>
              </a:defRPr>
            </a:pPr>
            <a:r>
              <a:rPr sz="1725" b="1">
                <a:solidFill>
                  <a:srgbClr val="245C73"/>
                </a:solidFill>
              </a:rPr>
              <a:t>Data backing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D213D-2476-4DDF-ADAD-2F73E8E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14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Xero, Shopify, website, approved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94FAC-2C15-47AC-A1FF-1F184DF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62300"/>
            <a:ext cx="41910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71C70-DB9E-49F2-B203-BC78296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8A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4A570-4F3D-49DD-96B8-6A256AC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8A28"/>
                </a:solidFill>
              </a:defRPr>
            </a:pPr>
            <a:r>
              <a:rPr sz="1725" b="1">
                <a:solidFill>
                  <a:srgbClr val="C88A28"/>
                </a:solidFill>
              </a:rPr>
              <a:t>Agent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E2DF4-4631-4472-9ED0-0DFD6BCA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Phone gatekeeper, learning agents, follow-up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48A81-BE1B-44D0-AF94-4CC16541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41910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85AEA-8914-42B9-8685-FC96B633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60762-BFD3-4662-A448-6AF900F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A3A"/>
                </a:solidFill>
              </a:defRPr>
            </a:pPr>
            <a:r>
              <a:rPr sz="1725" b="1">
                <a:solidFill>
                  <a:srgbClr val="B84A3A"/>
                </a:solidFill>
              </a:rPr>
              <a:t>Owner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1301A-C1EC-40B5-9008-778FF372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Toby approvals, consent, templates, audit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D6B07-74DB-4E6C-8911-F405B02D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883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9FCA7-99F1-44BE-AE4D-43E24113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6B4E"/>
                </a:solidFill>
              </a:defRPr>
            </a:pPr>
            <a:r>
              <a:rPr sz="1800" b="1">
                <a:solidFill>
                  <a:srgbClr val="1E6B4E"/>
                </a:solidFill>
              </a:rPr>
              <a:t>Principle: the system may prepare and recommend; approved rules or humans commit.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43B06-A13F-4602-8154-1125882C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6CFA5-F53C-4B30-BE74-C4E3BC97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651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06A57-9F80-4C6A-A5BC-A7887D41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PHONE GATEKEEPER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2250-CE9A-4B20-8D8B-E51DE1C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Answer what we know. Escalate what we should not guess.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50C77-D89F-41CF-A738-C2A5AE0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ElevenLabs + Twilio becomes the front door for routine calls and qualified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95F3D-BB46-4AB8-A913-7703141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913CE-D241-4A8A-A3EC-EC5FD995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B"/>
                </a:solidFill>
              </a:defRPr>
            </a:pPr>
            <a:r>
              <a:rPr sz="1575" b="1">
                <a:solidFill>
                  <a:srgbClr val="17211B"/>
                </a:solidFill>
              </a:rPr>
              <a:t>Inbound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7CB9C-9E72-4732-B5BE-CD5811E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Caller intent, number,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2BD02-4018-42EA-8221-0279699E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4000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0FB35-5961-4987-955A-184FA59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23E31-209E-43EB-9E0B-8AB62341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B"/>
                </a:solidFill>
              </a:defRPr>
            </a:pPr>
            <a:r>
              <a:rPr sz="1575" b="1">
                <a:solidFill>
                  <a:srgbClr val="17211B"/>
                </a:solidFill>
              </a:rPr>
              <a:t>Knowledge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34ED9-0B4B-48B1-8EC5-A036A00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Shopify, website, catalogue, SDS, FAQs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E28A6-B178-4BB9-83F2-592B6273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57500"/>
            <a:ext cx="4000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7EB89-F5CE-4703-A2FB-77C821DB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ECDC"/>
          </a:solidFill>
          <a:ln xmlns:a="http://schemas.openxmlformats.org/drawingml/2006/main" w="9525">
            <a:solidFill>
              <a:srgbClr val="C88A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2E140-69B2-408E-AD03-3E6E2C9B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A28"/>
                </a:solidFill>
              </a:defRPr>
            </a:pPr>
            <a:r>
              <a:rPr sz="1575" b="1">
                <a:solidFill>
                  <a:srgbClr val="C88A28"/>
                </a:solidFill>
              </a:rPr>
              <a:t>Triage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F6DBA-428E-4201-8BA0-0A5DC0E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Answer, draft action, or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1951-6CBE-4277-96D6-3C166C4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4000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080E0-8C87-4178-95FE-21851BC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F5946-3F9B-45E6-9DF8-03EAFFE5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B"/>
                </a:solidFill>
              </a:defRPr>
            </a:pPr>
            <a:r>
              <a:rPr sz="1575" b="1">
                <a:solidFill>
                  <a:srgbClr val="17211B"/>
                </a:solidFill>
              </a:rPr>
              <a:t>CRM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2066A-DBBD-4CEC-AA52-005EEB2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Lead, quote/order draft, booking,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DA0F1-B855-4539-B644-9E2415B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52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BD09F-EFF5-437B-88D8-33CAF1ED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BD7E7-5A2C-43CE-8872-0D012D87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912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Escalation stays deliberate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BBEB0-86F2-4D24-9E0C-3760E30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12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Pricing exceptions, complaints, warranty disputes, dangerous goods, complex service questions, and low-confidence answers require human handoff.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6E995-E04F-4317-8AD2-A0C555E7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9A0F9-0F3E-40B9-A19D-E0E94BE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3489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69634-56B5-433E-A736-610EF292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01FA7-DA2E-40B0-AE9B-8D20F03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Conversations become specialised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004EA-60D8-457C-81F2-4B610C3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Past calls become insight, but live behaviour changes only after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DCD42-08BB-41BE-A8B3-36EB0144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00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651B7-75EB-41C1-A8F7-BE053B8F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B4E"/>
                </a:solidFill>
              </a:defRPr>
            </a:pPr>
            <a:r>
              <a:rPr sz="1800" b="1">
                <a:solidFill>
                  <a:srgbClr val="1E6B4E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3335-71A7-4DF8-878C-836F7C41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Intents, personas, objections,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E4CB7-5D7D-40FB-9B0E-FD4706DD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3619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33220-CD73-4E35-BBE1-49F6C647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000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0ECC8-1940-43C4-A294-5F260750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C73"/>
                </a:solidFill>
              </a:defRPr>
            </a:pPr>
            <a:r>
              <a:rPr sz="1800" b="1">
                <a:solidFill>
                  <a:srgbClr val="245C73"/>
                </a:solidFill>
              </a:rPr>
              <a:t>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17DA2-7A5B-4447-8281-9695E59A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Specialised agent or playbook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E0608-16D3-465A-BCDC-7212EE0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3619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4B123-6727-4D39-B48D-C3475DA3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000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ECDC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47DC0-CB31-477E-B84B-13E1B1B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8A28"/>
                </a:solidFill>
              </a:defRPr>
            </a:pPr>
            <a:r>
              <a:rPr sz="1800" b="1">
                <a:solidFill>
                  <a:srgbClr val="C88A28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CCBB8-F4FC-4D77-A3B2-D4B39668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Test conversations and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2C098-4D1B-4B7C-B2F4-84A7F3B6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619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143C9-F425-4429-944F-BD8F2C70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000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5E39A-22AA-4B53-B969-3487B7FB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B"/>
                </a:solidFill>
              </a:defRPr>
            </a:pPr>
            <a:r>
              <a:rPr sz="1800" b="1">
                <a:solidFill>
                  <a:srgbClr val="17211B"/>
                </a:solidFill>
              </a:rPr>
              <a:t>Improve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2516C-B2F6-4F77-B476-1069F5E0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66"/>
                </a:solidFill>
              </a:defRPr>
            </a:pPr>
            <a:r>
              <a:rPr sz="1200" b="0">
                <a:solidFill>
                  <a:srgbClr val="5F6F66"/>
                </a:solidFill>
              </a:rPr>
              <a:t>Activate, measure, learn again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9C019-BD26-44AF-82E4-ADD81C71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E"/>
                </a:solidFill>
              </a:defRPr>
            </a:pPr>
            <a:r>
              <a:rPr sz="1200" b="1">
                <a:solidFill>
                  <a:srgbClr val="1E6B4E"/>
                </a:solidFill>
              </a:rPr>
              <a:t>Specialised agent modes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263E5-3E60-4F94-97F2-3FAD1E5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1B"/>
                </a:solidFill>
              </a:defRPr>
            </a:pPr>
            <a:r>
              <a:rPr sz="1650" b="1">
                <a:solidFill>
                  <a:srgbClr val="17211B"/>
                </a:solidFill>
              </a:rPr>
              <a:t>Sales qualification | Product advice | Online sales | Phone orders | Service booking | Support booking | CARSI/training | Campaign capture | Escalation triage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4ECE5-33AA-48E1-9955-252ACE8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D39E8-E766-4F49-BD1E-DD7369B0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7501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144B9-7F97-407C-8192-D501C6BA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FOLLOW-UP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5C9D-955F-4604-B6E4-6DF5AD8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From CRM signals to industry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BB36D-F181-4605-90D2-199BE00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Specialised agents watch for the next useful contact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76C88-EA71-479E-9C0A-7BB817D6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98D48-F61C-449E-B93C-D692E95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B4E"/>
                </a:solidFill>
              </a:defRPr>
            </a:pPr>
            <a:r>
              <a:rPr sz="1575" b="1">
                <a:solidFill>
                  <a:srgbClr val="1E6B4E"/>
                </a:solidFill>
              </a:rPr>
              <a:t>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71EE1-4BE7-4F95-B156-3E3D495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B"/>
                </a:solidFill>
              </a:defRPr>
            </a:pPr>
            <a:r>
              <a:rPr sz="1500" b="0">
                <a:solidFill>
                  <a:srgbClr val="17211B"/>
                </a:solidFill>
              </a:rPr>
              <a:t>Tracking updates, service intervals, service check-ins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8145-AD77-4688-99BE-568A840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009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966B-5A1B-493E-BE8B-9A91E09D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C73"/>
                </a:solidFill>
              </a:defRPr>
            </a:pPr>
            <a:r>
              <a:rPr sz="1575" b="1">
                <a:solidFill>
                  <a:srgbClr val="245C73"/>
                </a:solidFill>
              </a:rPr>
              <a:t>Commercial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D7703-7336-4C5A-8217-B7D4937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B"/>
                </a:solidFill>
              </a:defRPr>
            </a:pPr>
            <a:r>
              <a:rPr sz="1500" b="0">
                <a:solidFill>
                  <a:srgbClr val="17211B"/>
                </a:solidFill>
              </a:rPr>
              <a:t>Quote follow-up, phone orders, online sales nurture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1A2C6-BC73-40DF-95C3-2BBC4FCC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1009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39BEC-E253-4096-A063-E2E7B66A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A28"/>
                </a:solidFill>
              </a:defRPr>
            </a:pPr>
            <a:r>
              <a:rPr sz="1575" b="1">
                <a:solidFill>
                  <a:srgbClr val="C88A28"/>
                </a:solidFill>
              </a:rPr>
              <a:t>Community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9C2AC-E45B-4E7C-97B2-B208ED99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B"/>
                </a:solidFill>
              </a:defRPr>
            </a:pPr>
            <a:r>
              <a:rPr sz="1500" b="0">
                <a:solidFill>
                  <a:srgbClr val="17211B"/>
                </a:solidFill>
              </a:rPr>
              <a:t>Company days, appreciation days, industry awards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9F32A-D06C-4601-B523-BE920616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1009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086EB-AE6B-45BB-9680-4DEA26E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A3A"/>
                </a:solidFill>
              </a:defRPr>
            </a:pPr>
            <a:r>
              <a:rPr sz="1575" b="1">
                <a:solidFill>
                  <a:srgbClr val="B84A3A"/>
                </a:solidFill>
              </a:rPr>
              <a:t>Campaign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8E77D-76AF-4F26-A35B-AEDE891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B"/>
                </a:solidFill>
              </a:defRPr>
            </a:pPr>
            <a:r>
              <a:rPr sz="1500" b="0">
                <a:solidFill>
                  <a:srgbClr val="17211B"/>
                </a:solidFill>
              </a:rPr>
              <a:t>Newsletters, email campaigns, messages, social blitzes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250D5-1C24-47D5-BE81-FC7C307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8A28"/>
                </a:solidFill>
              </a:defRPr>
            </a:pPr>
            <a:r>
              <a:rPr sz="1425" b="1">
                <a:solidFill>
                  <a:srgbClr val="C88A28"/>
                </a:solidFill>
              </a:rPr>
              <a:t>Default posture: draft-first. Auto-send only after consent basis, approved template, frequency cap, audit trail, and owner approval.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23C73-F0D3-4E8C-8089-8EF52F1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55871-35DA-41FD-AD7D-2D5F71A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8815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5C7E7-5C95-46A0-B202-96D2CC40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EVIDENCE AND ACCOUNTING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86AAF-9B50-455B-B19B-564E74E3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Real claims, adjustable by Toby, backed by Xero where available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607A9-D562-4BE4-85BA-C59C93C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The CRM separates owner-entered inputs from accounting-backed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AE1EC-57FA-4E47-9574-36918D2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1E6B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E6842-A7AD-4E13-8E64-0580987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6B4E"/>
                </a:solidFill>
              </a:defRPr>
            </a:pPr>
            <a:r>
              <a:rPr sz="1575" b="1">
                <a:solidFill>
                  <a:srgbClr val="1E6B4E"/>
                </a:solidFill>
              </a:rPr>
              <a:t>Owner-entered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74691-2ED4-44AA-B44F-77CEE04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245C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7E9A0-605D-475F-B919-9E90FE2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57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C73"/>
                </a:solidFill>
              </a:defRPr>
            </a:pPr>
            <a:r>
              <a:rPr sz="1575" b="1">
                <a:solidFill>
                  <a:srgbClr val="245C73"/>
                </a:solidFill>
              </a:rPr>
              <a:t>Toby-adjusted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0FEF4-08C9-4CD9-8CF5-3F7F036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5ECDC"/>
          </a:solidFill>
          <a:ln xmlns:a="http://schemas.openxmlformats.org/drawingml/2006/main" w="9525">
            <a:solidFill>
              <a:srgbClr val="C88A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4E19F-B42E-4C20-836B-DDB7296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8A28"/>
                </a:solidFill>
              </a:defRPr>
            </a:pPr>
            <a:r>
              <a:rPr sz="1575" b="1">
                <a:solidFill>
                  <a:srgbClr val="C88A28"/>
                </a:solidFill>
              </a:rPr>
              <a:t>Xero-backed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924DD-D6D3-4B2B-B0D6-3053F705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E3E0"/>
          </a:solidFill>
          <a:ln xmlns:a="http://schemas.openxmlformats.org/drawingml/2006/main" w="9525">
            <a:solidFill>
              <a:srgbClr val="B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D2EC4-C87E-402A-B049-48C54D71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575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A3A"/>
                </a:solidFill>
              </a:defRPr>
            </a:pPr>
            <a:r>
              <a:rPr sz="1575" b="1">
                <a:solidFill>
                  <a:srgbClr val="B84A3A"/>
                </a:solidFill>
              </a:rPr>
              <a:t>Stale or disputed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AC2F9-9FA3-482E-9B45-3E2F4FAB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705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20F79-E5A6-4834-9C44-08539468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8"/>
          </a:solidFill>
          <a:ln xmlns:a="http://schemas.openxmlformats.org/drawingml/2006/main" w="0">
            <a:solidFill>
              <a:srgbClr val="C88A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521E6-FA48-4343-81CC-FD2E17F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Xero cannot silently overwrite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CA3AF-A99A-4D86-BF35-966C386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Xero proposes or backs values. Toby-adjusted claims keep their audit trail and accepted/disputed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D3035-03E7-4FB5-9298-76E936C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705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F7522-D0CE-4F91-B4F1-4540677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4E"/>
          </a:solidFill>
          <a:ln xmlns:a="http://schemas.openxmlformats.org/drawingml/2006/main" w="0">
            <a:solidFill>
              <a:srgbClr val="1E6B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91640-3651-420C-A8A2-7476AC3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B"/>
                </a:solidFill>
              </a:defRPr>
            </a:pPr>
            <a:r>
              <a:rPr sz="1500" b="1">
                <a:solidFill>
                  <a:srgbClr val="17211B"/>
                </a:solidFill>
              </a:rPr>
              <a:t>Evidence Standard stays 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5B852-4575-49C7-B5A3-8D8C978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244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6"/>
                </a:solidFill>
              </a:defRPr>
            </a:pPr>
            <a:r>
              <a:rPr sz="1275" b="0">
                <a:solidFill>
                  <a:srgbClr val="5F6F66"/>
                </a:solidFill>
              </a:rPr>
              <a:t>Verified, inferred, and unconfirmed claims are extracted into findings and the assumption register.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2F93D-F95A-4B1C-BF48-6E08728C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F003C-26CC-49EA-BA1B-2361BDC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1528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D656D-6D61-4567-845F-5C7297C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SAFETY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CF8F1-2BDD-4A8B-8D8C-54403356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What the system cannot do without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789B2-AA83-4BDE-959B-68ED6669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The build is powerful because it is 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6B17A-9DF3-4C6F-9A7D-8F81CEF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2063B-F17A-4114-9C78-715EB1D1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479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3A63A-6B28-45B4-A306-5D202EF2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recording without consent and retention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0BF85-89F1-42EE-92D1-CD7BF62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E27C7-95B9-429F-8B1B-4DECC8B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479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8E5DF-DA39-4348-8FD9-E7EE6F6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outbound AI calling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F56CF-A60B-4339-ACB0-40AD456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A91CB-A621-46C1-93EF-93C6CD2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4C667-6423-4FB4-8B7D-5973C9B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order placement, paid booking, campaign send, or social publish without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433D-4A51-4928-B6AB-2C00030B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7182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BE891-9A8D-4999-8D23-A1C77EC4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3B07B-FF13-4BB3-ACED-D5026561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specialised agent activation without version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3A71E-7B9C-4039-9DA6-E06F713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D2979-F827-44BA-8D1B-24D9D16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1E2F6-63E8-4CEC-8749-BAA95A6C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unapproved knowledge or unknown-provenance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CA9E4-9EA0-41A3-BD9A-91C8960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05275"/>
            <a:ext cx="495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C9DC5-F705-43EA-9E2A-412C030A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148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4A3A"/>
                </a:solidFill>
              </a:defRPr>
            </a:pPr>
            <a:r>
              <a:rPr sz="975" b="1">
                <a:solidFill>
                  <a:srgbClr val="B84A3A"/>
                </a:solidFill>
              </a:rPr>
              <a:t>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F4F45-7236-4CBC-8B46-CAFC4BE7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No financial commitment from stale or disputed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F7C29-C4F6-4783-B8DF-9CC5106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B4E"/>
                </a:solidFill>
              </a:defRPr>
            </a:pPr>
            <a:r>
              <a:rPr sz="1800" b="1">
                <a:solidFill>
                  <a:srgbClr val="1E6B4E"/>
                </a:solidFill>
              </a:rPr>
              <a:t>Approval gates are a feature, not friction.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20BDE-A575-4DBF-9EE2-695973C7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7392E-311D-400D-897B-3CAE61AE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5662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CC63A-2BED-4AF0-BE7A-16E7110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B4E"/>
                </a:solidFill>
              </a:defRPr>
            </a:pPr>
            <a:r>
              <a:rPr sz="900" b="1">
                <a:solidFill>
                  <a:srgbClr val="1E6B4E"/>
                </a:solidFill>
              </a:rPr>
              <a:t>APPROVAL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C3BDA-F746-4241-AC93-A1B16ED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B"/>
                </a:solidFill>
              </a:defRPr>
            </a:pPr>
            <a:r>
              <a:rPr sz="2550" b="1">
                <a:solidFill>
                  <a:srgbClr val="17211B"/>
                </a:solidFill>
              </a:rPr>
              <a:t>Approve the direction, then build in controlled slices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2337D-25AC-4A0F-948C-906D2A7F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6"/>
                </a:solidFill>
              </a:defRPr>
            </a:pPr>
            <a:r>
              <a:rPr sz="1425" b="0">
                <a:solidFill>
                  <a:srgbClr val="5F6F66"/>
                </a:solidFill>
              </a:rPr>
              <a:t>Toby approval unlocks the first implementation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D8D49-ABA5-4123-A05C-498CEFF9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0D7B4-1394-43DF-BC08-C05DC25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4E"/>
                </a:solidFill>
              </a:defRPr>
            </a:pPr>
            <a:r>
              <a:rPr sz="1350" b="1">
                <a:solidFill>
                  <a:srgbClr val="1E6B4E"/>
                </a:solidFill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6A62-EA97-4475-B2CD-71406261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</a:defRPr>
            </a:pPr>
            <a:r>
              <a:rPr sz="1275" b="0">
                <a:solidFill>
                  <a:srgbClr val="17211B"/>
                </a:solidFill>
              </a:rPr>
              <a:t>Schema, read path, evidence, Xero-backed 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44AF8-0B18-4A7E-9D00-0B6EB59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D48E0-B3B0-40EB-9004-6989DC0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4E"/>
                </a:solidFill>
              </a:defRPr>
            </a:pPr>
            <a:r>
              <a:rPr sz="1350" b="1">
                <a:solidFill>
                  <a:srgbClr val="1E6B4E"/>
                </a:solidFill>
              </a:rPr>
              <a:t>Phase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D2F1D-A2C8-4FFA-B2D6-F3025C4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</a:defRPr>
            </a:pPr>
            <a:r>
              <a:rPr sz="1275" b="0">
                <a:solidFill>
                  <a:srgbClr val="17211B"/>
                </a:solidFill>
              </a:rPr>
              <a:t>Feasibility engine, opportunities, phone gatekeeper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2AED9-EAF1-49AA-9362-D9C6CF8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36379-52A4-4649-9329-8224C21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4E"/>
                </a:solidFill>
              </a:defRPr>
            </a:pPr>
            <a:r>
              <a:rPr sz="1350" b="1">
                <a:solidFill>
                  <a:srgbClr val="1E6B4E"/>
                </a:solidFill>
              </a:rPr>
              <a:t>Phase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57912-2DE6-4C71-BCA3-E93DE31E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67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</a:defRPr>
            </a:pPr>
            <a:r>
              <a:rPr sz="1275" b="0">
                <a:solidFill>
                  <a:srgbClr val="17211B"/>
                </a:solidFill>
              </a:rPr>
              <a:t>Conversation learning, specialised agents, follow-up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8BF3D-1A82-41CA-A8FA-6900E82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2FE34-CD3F-4617-9176-2BA98DCE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6B4E"/>
                </a:solidFill>
              </a:defRPr>
            </a:pPr>
            <a:r>
              <a:rPr sz="1350" b="1">
                <a:solidFill>
                  <a:srgbClr val="1E6B4E"/>
                </a:solidFill>
              </a:rPr>
              <a:t>Phase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93ADE-1152-4BB9-8FEE-4F632677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</a:defRPr>
            </a:pPr>
            <a:r>
              <a:rPr sz="1275" b="0">
                <a:solidFill>
                  <a:srgbClr val="17211B"/>
                </a:solidFill>
              </a:rPr>
              <a:t>Industry events, campaigns, measurement, polish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C0F59-09E1-476A-962E-6620CB1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6B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B78C5-CFF3-41F2-A1A4-46C3C5F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B4E"/>
                </a:solidFill>
              </a:defRPr>
            </a:pPr>
            <a:r>
              <a:rPr sz="1800" b="1">
                <a:solidFill>
                  <a:srgbClr val="1E6B4E"/>
                </a:solidFill>
              </a:rPr>
              <a:t>Toby decisions needed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1C598-588F-422A-B172-74EB86F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3333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B"/>
                </a:solidFill>
              </a:defRPr>
            </a:pPr>
            <a:r>
              <a:rPr sz="1425" b="0">
                <a:solidFill>
                  <a:srgbClr val="17211B"/>
                </a:solidFill>
              </a:rPr>
              <a:t>1. Approve the gated build direction</a:t>
            </a:r>
          </a:p>
          <a:p xmlns:a="http://schemas.openxmlformats.org/drawingml/2006/main">
            <a:pPr algn="l">
              <a:defRPr sz="1425" b="0">
                <a:solidFill>
                  <a:srgbClr val="17211B"/>
                </a:solidFill>
              </a:defRPr>
            </a:pPr>
            <a:r>
              <a:rPr sz="1425" b="0">
                <a:solidFill>
                  <a:srgbClr val="17211B"/>
                </a:solidFill>
              </a:rPr>
              <a:t>2. Confirm first specialised agents</a:t>
            </a:r>
          </a:p>
          <a:p xmlns:a="http://schemas.openxmlformats.org/drawingml/2006/main">
            <a:pPr algn="l">
              <a:defRPr sz="1425" b="0">
                <a:solidFill>
                  <a:srgbClr val="17211B"/>
                </a:solidFill>
              </a:defRPr>
            </a:pPr>
            <a:r>
              <a:rPr sz="1425" b="0">
                <a:solidFill>
                  <a:srgbClr val="17211B"/>
                </a:solidFill>
              </a:rPr>
              <a:t>3. Confirm Xero claim mappings</a:t>
            </a:r>
          </a:p>
          <a:p xmlns:a="http://schemas.openxmlformats.org/drawingml/2006/main">
            <a:pPr algn="l">
              <a:defRPr sz="1425" b="0">
                <a:solidFill>
                  <a:srgbClr val="17211B"/>
                </a:solidFill>
              </a:defRPr>
            </a:pPr>
            <a:r>
              <a:rPr sz="1425" b="0">
                <a:solidFill>
                  <a:srgbClr val="17211B"/>
                </a:solidFill>
              </a:rPr>
              <a:t>4. Confirm company-day/event priorities</a:t>
            </a:r>
          </a:p>
          <a:p xmlns:a="http://schemas.openxmlformats.org/drawingml/2006/main">
            <a:pPr algn="l">
              <a:defRPr sz="1425" b="0">
                <a:solidFill>
                  <a:srgbClr val="17211B"/>
                </a:solidFill>
              </a:defRPr>
            </a:pPr>
            <a:r>
              <a:rPr sz="1425" b="0">
                <a:solidFill>
                  <a:srgbClr val="17211B"/>
                </a:solidFill>
              </a:rPr>
              <a:t>5. Confirm follow-up auto-send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E047C-F6E8-449F-AF6B-91D51F7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8A28"/>
                </a:solidFill>
              </a:defRPr>
            </a:pPr>
            <a:r>
              <a:rPr sz="1650" b="1">
                <a:solidFill>
                  <a:srgbClr val="C88A28"/>
                </a:solidFill>
              </a:rPr>
              <a:t>Recommended decision: approve Phase 1 and keep later automation draft-first until reviewed.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89B50-D860-4489-939C-3CB2FDF8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77F"/>
                </a:solidFill>
              </a:defRPr>
            </a:pPr>
            <a:r>
              <a:rPr sz="750" b="0">
                <a:solidFill>
                  <a:srgbClr val="7A877F"/>
                </a:solidFill>
              </a:rPr>
              <a:t>CCW-CRM approval deck | 16 Jun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CF509-7628-4642-9F58-243A0745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77F"/>
                </a:solidFill>
              </a:defRPr>
            </a:pPr>
            <a:r>
              <a:rPr sz="900" b="1">
                <a:solidFill>
                  <a:srgbClr val="7A877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135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2026-06-16T06:27:15.4900000Z</dcterms:created>
  <dcterms:modified xsi:type="dcterms:W3CDTF">2026-06-16T06:27:15.4900000Z</dcterms:modified>
</coreProperties>
</file>